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5" r:id="rId5"/>
    <p:sldId id="276" r:id="rId6"/>
    <p:sldId id="277" r:id="rId7"/>
    <p:sldId id="280" r:id="rId8"/>
    <p:sldId id="281" r:id="rId9"/>
    <p:sldId id="279" r:id="rId10"/>
    <p:sldId id="282" r:id="rId11"/>
    <p:sldId id="283" r:id="rId12"/>
    <p:sldId id="284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F09E0-39C7-489C-A4B3-9EB93887E22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97AA6-703F-4BFE-95D6-469549A67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315C1-074C-4EC8-8EB7-939B6CC575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1AF1-4BF2-5AD7-7AD7-5D9BB1063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57560-744D-AAAC-537D-81A4384DE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B84D-E805-8B7A-A158-9FEDCB25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B25A8-6923-CC94-30F8-098212B3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EEC5-444B-9F02-68EE-F175268B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0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DA6E-C1C3-DA43-1D8E-6CEE62D2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9E87-169C-D9DB-E3FF-9EA6FE73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E2FDE-9D19-50F3-913F-C8B97C7F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3142C-F1F6-F726-0743-F5B2CE52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812C-73E4-7330-9189-4FEF1E97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0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D3D5-8D82-A8BB-963E-E0CEF5CE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4A42A-F127-34B9-94CA-20F3F332E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FABEF-3415-C2EB-9807-6FC9247A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A976-3A41-17C1-03A4-34666B6F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E0085-7451-E16A-8E0C-F6EDF6A2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1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BE97-0647-1D3C-5F35-E021F9B7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7043-F6B0-1500-B58A-B355AAA09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63D01-0A39-E0DB-75E9-4D666A13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35935-F7BE-AABC-B68D-871300D4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C0DA-516E-7494-88D4-54B8C1E3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E5C1A-789A-DFA0-848A-9EF61EF7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1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BFAC-7446-5B81-F6D2-BD436455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EEB82-20BD-9D3F-32AB-0DDED29E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D9FBA-0C6A-4BFA-F6D7-5668E187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94FE2-434E-C3C9-5845-A5B996BAA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14E91-AD8F-E84D-41D7-0C2B2CEAB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95AFF-4EA8-C935-F0EA-5211B039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EAB2DB-7683-31B9-2FE5-2F97E01D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9EA09-EE37-E46C-678B-36CE64AD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5CF4-2287-35EA-E029-9D8E2802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3E500-74D8-CD94-89C9-AD76B405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9D83B-725A-87C3-2296-227E6E6E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2A2A7-CC87-CCE1-BFEE-4DF62DCC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D1975-C70D-90DD-46F2-29B555C8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B52B8-816C-6DAC-C6CC-25CBA046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55CA-C6ED-D47C-2B66-FFC06B14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3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0EC2-FF3E-8F17-F915-E907188A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0F101-6B9E-916D-1857-AA0AEFD1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85564-1199-6EC6-212E-82E6D6DBD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39A67-1F52-4062-12ED-920F6A38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C1C11-81FD-C599-EEF7-EEED895B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59A43-0283-E371-84D7-DB39AF62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6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B306-021E-7F2A-B649-6C21DFE4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6AFDEF-F048-5596-A1AC-BFAF9A012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EC8BE-38AC-34F3-73D3-63DB3F767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1E744-9C37-0B1D-80AC-EA00CCB9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15FEC-3BD5-3D54-AC98-51C6A927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5088E-A59D-3014-FEAB-B92C7036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E5F4-3FC4-0E77-1A7F-7D096045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1D8BC-030D-0839-2388-D9746DC9B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03713-9227-7BB7-226B-DDE778D3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11DD-2C10-0CCB-3E14-96AD3E75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BE9FB-A995-4DA0-1662-6B37EA05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6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D03A9-269D-2B0A-FF6D-7D1A8CFCE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7D3FA-7126-F048-1FFF-9F92ED53A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1FC3-E110-09A4-5040-878F73F4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D6FCE-53A2-7F5B-19EE-44FFF1E2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2D97F-2719-4FE7-5609-DA977B69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D89D1-4569-D393-D546-B5A229C7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87A-73A1-DB44-4B0A-575438825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BD37-FA4A-3301-8441-48553703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3B948-1C6F-44CF-B018-B8AED615B9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7C74-5D25-2B3E-4772-9E91F6EED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680D4-F5CD-ED9A-ADEA-976FA3380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794DC-FFCC-4DC3-AD70-83461F059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6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C3E442-64FC-FF3F-7C33-8D161DC8E9AB}"/>
              </a:ext>
            </a:extLst>
          </p:cNvPr>
          <p:cNvSpPr/>
          <p:nvPr/>
        </p:nvSpPr>
        <p:spPr>
          <a:xfrm>
            <a:off x="385665" y="239222"/>
            <a:ext cx="11420670" cy="20341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F8164-F075-E64F-3894-063F0AFBD118}"/>
              </a:ext>
            </a:extLst>
          </p:cNvPr>
          <p:cNvSpPr txBox="1"/>
          <p:nvPr/>
        </p:nvSpPr>
        <p:spPr>
          <a:xfrm>
            <a:off x="1051034" y="499083"/>
            <a:ext cx="10310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AI-Driven Stock Rebalancing for Demand-Responsive Retail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FA83D-4819-3B7B-025C-9DD6ABD45F32}"/>
              </a:ext>
            </a:extLst>
          </p:cNvPr>
          <p:cNvSpPr txBox="1"/>
          <p:nvPr/>
        </p:nvSpPr>
        <p:spPr>
          <a:xfrm>
            <a:off x="2428875" y="1135348"/>
            <a:ext cx="798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Move the Right Stock, to the Right Store, at the Right Time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1ECB1-8CFE-0194-05B7-FF0B2513E29F}"/>
              </a:ext>
            </a:extLst>
          </p:cNvPr>
          <p:cNvSpPr txBox="1"/>
          <p:nvPr/>
        </p:nvSpPr>
        <p:spPr>
          <a:xfrm>
            <a:off x="1849821" y="1699992"/>
            <a:ext cx="911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Clustering-Based Demand Signals + Optimization-Driven Transfers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DB3D0-3915-A09F-899E-19BBEAF572FD}"/>
              </a:ext>
            </a:extLst>
          </p:cNvPr>
          <p:cNvSpPr/>
          <p:nvPr/>
        </p:nvSpPr>
        <p:spPr>
          <a:xfrm>
            <a:off x="385665" y="2334650"/>
            <a:ext cx="11420670" cy="428412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Smart Inventory Redistribution</a:t>
            </a:r>
            <a:r>
              <a:rPr lang="en-IN" sz="1600" dirty="0"/>
              <a:t> is an AI-powered decision engine designed to continuously rebalance inventory across stores, warehouses, and regions based on real-time demand signals.</a:t>
            </a:r>
          </a:p>
          <a:p>
            <a:endParaRPr lang="en-IN" sz="1600" dirty="0"/>
          </a:p>
          <a:p>
            <a:r>
              <a:rPr lang="en-IN" sz="1600" dirty="0"/>
              <a:t>Traditional inventory systems treat each store in isolation, leading to overstock in low-demand locations and stockouts in high-demand ones. This application breaks that silo by </a:t>
            </a:r>
            <a:r>
              <a:rPr lang="en-IN" sz="1600" dirty="0" err="1"/>
              <a:t>analyzing</a:t>
            </a:r>
            <a:r>
              <a:rPr lang="en-IN" sz="1600" dirty="0"/>
              <a:t> demand patterns, inventory health, logistics constraints, and transfer costs — then recommending </a:t>
            </a:r>
            <a:r>
              <a:rPr lang="en-IN" sz="1600" b="1" dirty="0"/>
              <a:t>optimal stock movements</a:t>
            </a:r>
            <a:r>
              <a:rPr lang="en-IN" sz="1600" dirty="0"/>
              <a:t> that maximize service levels while minimizing operational cost.</a:t>
            </a:r>
          </a:p>
          <a:p>
            <a:endParaRPr lang="en-IN" sz="1600" dirty="0"/>
          </a:p>
          <a:p>
            <a:r>
              <a:rPr lang="en-IN" sz="1600" dirty="0"/>
              <a:t>The system combines: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Demand forecasts from Stage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health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and cluster-level demand </a:t>
            </a:r>
            <a:r>
              <a:rPr lang="en-IN" sz="1600" dirty="0" err="1"/>
              <a:t>behavior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Logistics and route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Optimization models for transfer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dirty="0"/>
              <a:t>The result is a </a:t>
            </a:r>
            <a:r>
              <a:rPr lang="en-IN" sz="1600" b="1" dirty="0"/>
              <a:t>data-driven redistribution strategy</a:t>
            </a:r>
            <a:r>
              <a:rPr lang="en-IN" sz="1600" dirty="0"/>
              <a:t> that adapts dynamically as demand changes.</a:t>
            </a:r>
          </a:p>
        </p:txBody>
      </p:sp>
    </p:spTree>
    <p:extLst>
      <p:ext uri="{BB962C8B-B14F-4D97-AF65-F5344CB8AC3E}">
        <p14:creationId xmlns:p14="http://schemas.microsoft.com/office/powerpoint/2010/main" val="255472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3A8B0-0BCF-34AC-008D-4A0E0DE2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997399-7628-5D50-95A2-32D0AB694C82}"/>
              </a:ext>
            </a:extLst>
          </p:cNvPr>
          <p:cNvSpPr/>
          <p:nvPr/>
        </p:nvSpPr>
        <p:spPr>
          <a:xfrm>
            <a:off x="385665" y="247650"/>
            <a:ext cx="11420670" cy="509477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/>
              <a:t>❓ Why This Matters</a:t>
            </a:r>
          </a:p>
          <a:p>
            <a:endParaRPr lang="en-IN" sz="1600" b="1" dirty="0"/>
          </a:p>
          <a:p>
            <a:r>
              <a:rPr lang="en-IN" sz="1600" b="1" dirty="0"/>
              <a:t>🚨 The Retail Problem</a:t>
            </a:r>
          </a:p>
          <a:p>
            <a:endParaRPr lang="en-IN" sz="1600" b="1" dirty="0"/>
          </a:p>
          <a:p>
            <a:r>
              <a:rPr lang="en-IN" sz="1600" dirty="0"/>
              <a:t>Inventory is </a:t>
            </a:r>
            <a:r>
              <a:rPr lang="en-IN" sz="1600" b="1" dirty="0"/>
              <a:t>capital locked on shelves</a:t>
            </a:r>
            <a:endParaRPr lang="en-IN" sz="1600" dirty="0"/>
          </a:p>
          <a:p>
            <a:r>
              <a:rPr lang="en-IN" sz="1600" dirty="0"/>
              <a:t>Overstock leads to </a:t>
            </a:r>
            <a:r>
              <a:rPr lang="en-IN" sz="1600" b="1" dirty="0"/>
              <a:t>markdowns and wastage</a:t>
            </a:r>
            <a:endParaRPr lang="en-IN" sz="1600" dirty="0"/>
          </a:p>
          <a:p>
            <a:r>
              <a:rPr lang="en-IN" sz="1600" dirty="0"/>
              <a:t>Stockouts lead to </a:t>
            </a:r>
            <a:r>
              <a:rPr lang="en-IN" sz="1600" b="1" dirty="0"/>
              <a:t>lost revenue and poor customer experience</a:t>
            </a:r>
            <a:endParaRPr lang="en-IN" sz="1600" dirty="0"/>
          </a:p>
          <a:p>
            <a:r>
              <a:rPr lang="en-IN" sz="1600" dirty="0"/>
              <a:t>Manual transfers are </a:t>
            </a:r>
            <a:r>
              <a:rPr lang="en-IN" sz="1600" b="1" dirty="0"/>
              <a:t>slow, reactive, and cost-inefficient</a:t>
            </a:r>
            <a:endParaRPr lang="en-IN" sz="1600" dirty="0"/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🚀 The AI Advantage</a:t>
            </a:r>
          </a:p>
          <a:p>
            <a:endParaRPr lang="en-IN" sz="1600" dirty="0"/>
          </a:p>
          <a:p>
            <a:r>
              <a:rPr lang="en-IN" sz="1600" dirty="0"/>
              <a:t>This stage transforms inventory management from </a:t>
            </a:r>
            <a:r>
              <a:rPr lang="en-IN" sz="1600" b="1" dirty="0"/>
              <a:t>reactive replenishment</a:t>
            </a:r>
            <a:r>
              <a:rPr lang="en-IN" sz="1600" dirty="0"/>
              <a:t> to </a:t>
            </a:r>
            <a:r>
              <a:rPr lang="en-IN" sz="1600" b="1" dirty="0"/>
              <a:t>proactive rebalancing</a:t>
            </a:r>
            <a:r>
              <a:rPr lang="en-IN" sz="1600" dirty="0"/>
              <a:t> by:</a:t>
            </a:r>
          </a:p>
          <a:p>
            <a:endParaRPr lang="en-IN" sz="1600" dirty="0"/>
          </a:p>
          <a:p>
            <a:r>
              <a:rPr lang="en-IN" sz="1600" dirty="0"/>
              <a:t>✔ Identifying excess stock before it becomes dead inventory</a:t>
            </a:r>
            <a:br>
              <a:rPr lang="en-IN" sz="1600" dirty="0"/>
            </a:br>
            <a:r>
              <a:rPr lang="en-IN" sz="1600" dirty="0"/>
              <a:t>✔ Detecting emerging demand hotspots early</a:t>
            </a:r>
            <a:br>
              <a:rPr lang="en-IN" sz="1600" dirty="0"/>
            </a:br>
            <a:r>
              <a:rPr lang="en-IN" sz="1600" dirty="0"/>
              <a:t>✔ Optimizing inter-store transfers using AI models</a:t>
            </a:r>
            <a:br>
              <a:rPr lang="en-IN" sz="1600" dirty="0"/>
            </a:br>
            <a:r>
              <a:rPr lang="en-IN" sz="1600" dirty="0"/>
              <a:t>✔ Reducing unnecessary procurement and logistics costs</a:t>
            </a:r>
            <a:br>
              <a:rPr lang="en-IN" sz="1600" dirty="0"/>
            </a:br>
            <a:r>
              <a:rPr lang="en-IN" sz="1600" dirty="0"/>
              <a:t>✔ Improving fill rates and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6326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1B18D-62A8-3712-E54C-3DF91FBB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69450E-E256-7986-834A-22D09C3CBB06}"/>
              </a:ext>
            </a:extLst>
          </p:cNvPr>
          <p:cNvSpPr/>
          <p:nvPr/>
        </p:nvSpPr>
        <p:spPr>
          <a:xfrm>
            <a:off x="385665" y="199697"/>
            <a:ext cx="11420670" cy="8723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E60C5-999D-FB4B-5DB9-417A6679E350}"/>
              </a:ext>
            </a:extLst>
          </p:cNvPr>
          <p:cNvSpPr txBox="1"/>
          <p:nvPr/>
        </p:nvSpPr>
        <p:spPr>
          <a:xfrm>
            <a:off x="630620" y="405042"/>
            <a:ext cx="1133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Collection &amp; Integration (Unified Data Ingestion)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F94705-0183-F131-5600-E720E3E2FEFF}"/>
              </a:ext>
            </a:extLst>
          </p:cNvPr>
          <p:cNvSpPr/>
          <p:nvPr/>
        </p:nvSpPr>
        <p:spPr>
          <a:xfrm>
            <a:off x="385665" y="1403754"/>
            <a:ext cx="11420670" cy="40412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EA5C6-8C5E-9447-54A3-A98C92C4F4FB}"/>
              </a:ext>
            </a:extLst>
          </p:cNvPr>
          <p:cNvSpPr txBox="1"/>
          <p:nvPr/>
        </p:nvSpPr>
        <p:spPr>
          <a:xfrm>
            <a:off x="777766" y="1577708"/>
            <a:ext cx="104472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 section consolidates data from multiple enterprise sources into a single analytical model.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Integrated Data Domains: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Customer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&amp; loyalty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Product master &amp; pricing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Store &amp; sales channel data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Promotions &amp; events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Inventory &amp; stock conditions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Weather &amp; market trends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Time &amp; seasonality signals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All data is validated and aligned using a </a:t>
            </a:r>
            <a:r>
              <a:rPr lang="en-IN" b="1" dirty="0">
                <a:solidFill>
                  <a:schemeClr val="bg1"/>
                </a:solidFill>
              </a:rPr>
              <a:t>consistent dimensional model</a:t>
            </a:r>
            <a:r>
              <a:rPr lang="en-IN" dirty="0">
                <a:solidFill>
                  <a:schemeClr val="bg1"/>
                </a:solidFill>
              </a:rPr>
              <a:t> to ensure forecasting accuracy.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65E525-4B8E-9DDC-9FC0-160AC587B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5" y="5776683"/>
            <a:ext cx="15525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2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31174-5E54-6EB1-CE9C-0715B713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D8855A-720F-627C-14DB-0DFF2F7CD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3" y="423040"/>
            <a:ext cx="11323269" cy="604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5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E93DF-A854-A9FA-E34E-D3458A56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C1FAED-F93C-2AB9-6E28-F42A59858AD5}"/>
              </a:ext>
            </a:extLst>
          </p:cNvPr>
          <p:cNvSpPr/>
          <p:nvPr/>
        </p:nvSpPr>
        <p:spPr>
          <a:xfrm>
            <a:off x="385665" y="199697"/>
            <a:ext cx="11420670" cy="8723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C906D-D175-7394-C218-32BCA233638C}"/>
              </a:ext>
            </a:extLst>
          </p:cNvPr>
          <p:cNvSpPr txBox="1"/>
          <p:nvPr/>
        </p:nvSpPr>
        <p:spPr>
          <a:xfrm>
            <a:off x="630621" y="405042"/>
            <a:ext cx="6474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Pre-Processing (Data Quality &amp; Readiness)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AA1D0-3AD7-9554-4BED-FB4ED2E53ABC}"/>
              </a:ext>
            </a:extLst>
          </p:cNvPr>
          <p:cNvSpPr/>
          <p:nvPr/>
        </p:nvSpPr>
        <p:spPr>
          <a:xfrm>
            <a:off x="385665" y="1183038"/>
            <a:ext cx="11420670" cy="310518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09EB4-E990-2A16-77A5-03CD2AB8F82E}"/>
              </a:ext>
            </a:extLst>
          </p:cNvPr>
          <p:cNvSpPr txBox="1"/>
          <p:nvPr/>
        </p:nvSpPr>
        <p:spPr>
          <a:xfrm>
            <a:off x="777766" y="1356992"/>
            <a:ext cx="10447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 section ensures the dataset is </a:t>
            </a:r>
            <a:r>
              <a:rPr lang="en-IN" b="1" dirty="0">
                <a:solidFill>
                  <a:schemeClr val="bg1"/>
                </a:solidFill>
              </a:rPr>
              <a:t>model-ready</a:t>
            </a:r>
            <a:r>
              <a:rPr lang="en-IN" dirty="0">
                <a:solidFill>
                  <a:schemeClr val="bg1"/>
                </a:solidFill>
              </a:rPr>
              <a:t> by handling: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Missing values &amp; inconsistencies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Outliers &amp; anomalies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Data type validation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Referential integrity checks across dimensions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Time alignment and granularity normalization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step guarantees that downstream models are trained on </a:t>
            </a:r>
            <a:r>
              <a:rPr lang="en-IN" b="1" dirty="0">
                <a:solidFill>
                  <a:schemeClr val="bg1"/>
                </a:solidFill>
              </a:rPr>
              <a:t>clean, reliable, and trustworthy data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0C575F-7533-1708-750B-BA6833067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5" y="4462176"/>
            <a:ext cx="2590800" cy="4095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229E58-9049-1F75-3AB6-F207AD18B41C}"/>
              </a:ext>
            </a:extLst>
          </p:cNvPr>
          <p:cNvSpPr/>
          <p:nvPr/>
        </p:nvSpPr>
        <p:spPr>
          <a:xfrm>
            <a:off x="385665" y="5045705"/>
            <a:ext cx="11420670" cy="140725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58A784-BF7C-7B5B-2FDE-3F563417FBAC}"/>
              </a:ext>
            </a:extLst>
          </p:cNvPr>
          <p:cNvSpPr txBox="1"/>
          <p:nvPr/>
        </p:nvSpPr>
        <p:spPr>
          <a:xfrm>
            <a:off x="630621" y="5213297"/>
            <a:ext cx="10447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🔍 What this does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step identifies and removes </a:t>
            </a:r>
            <a:r>
              <a:rPr lang="en-IN" b="1" dirty="0">
                <a:solidFill>
                  <a:schemeClr val="bg1"/>
                </a:solidFill>
              </a:rPr>
              <a:t>exact duplicate records</a:t>
            </a:r>
            <a:r>
              <a:rPr lang="en-IN" dirty="0">
                <a:solidFill>
                  <a:schemeClr val="bg1"/>
                </a:solidFill>
              </a:rPr>
              <a:t> from the dataset.</a:t>
            </a:r>
          </a:p>
        </p:txBody>
      </p:sp>
    </p:spTree>
    <p:extLst>
      <p:ext uri="{BB962C8B-B14F-4D97-AF65-F5344CB8AC3E}">
        <p14:creationId xmlns:p14="http://schemas.microsoft.com/office/powerpoint/2010/main" val="402011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D3FFC-E660-CE8C-84FB-C8C9FA05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04190B-CC27-02D6-2E01-148341B6CFC9}"/>
              </a:ext>
            </a:extLst>
          </p:cNvPr>
          <p:cNvSpPr/>
          <p:nvPr/>
        </p:nvSpPr>
        <p:spPr>
          <a:xfrm>
            <a:off x="385665" y="199698"/>
            <a:ext cx="11420670" cy="643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C07C59-E1A1-A2D4-0704-FDC80B4197F6}"/>
              </a:ext>
            </a:extLst>
          </p:cNvPr>
          <p:cNvSpPr txBox="1"/>
          <p:nvPr/>
        </p:nvSpPr>
        <p:spPr>
          <a:xfrm>
            <a:off x="588580" y="960485"/>
            <a:ext cx="104472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Duplicate rows often occur due to: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Multiple data ingestion runs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System retries or sync issues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Manual data merges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🎯 Why this is important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Prevents </a:t>
            </a:r>
            <a:r>
              <a:rPr lang="en-IN" b="1" dirty="0">
                <a:solidFill>
                  <a:schemeClr val="bg1"/>
                </a:solidFill>
              </a:rPr>
              <a:t>double counting of sales, customers, or inventory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Ensures </a:t>
            </a:r>
            <a:r>
              <a:rPr lang="en-IN" b="1" dirty="0">
                <a:solidFill>
                  <a:schemeClr val="bg1"/>
                </a:solidFill>
              </a:rPr>
              <a:t>accurate aggregates and trends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Avoids biased model training caused by repeated observations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🧠 How it helps forecasting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Demand models rely on </a:t>
            </a:r>
            <a:r>
              <a:rPr lang="en-IN" b="1" dirty="0">
                <a:solidFill>
                  <a:schemeClr val="bg1"/>
                </a:solidFill>
              </a:rPr>
              <a:t>true historical patterns</a:t>
            </a:r>
            <a:r>
              <a:rPr lang="en-IN" dirty="0">
                <a:solidFill>
                  <a:schemeClr val="bg1"/>
                </a:solidFill>
              </a:rPr>
              <a:t>.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Duplicates distort demand signals and inflate sales volumes, leading to </a:t>
            </a:r>
            <a:r>
              <a:rPr lang="en-IN" b="1" dirty="0">
                <a:solidFill>
                  <a:schemeClr val="bg1"/>
                </a:solidFill>
              </a:rPr>
              <a:t>over-forecasting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717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C07DF-B766-6FA5-6BC0-B763B66D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5346B2-7C35-C156-275C-0667E5C7307C}"/>
              </a:ext>
            </a:extLst>
          </p:cNvPr>
          <p:cNvSpPr/>
          <p:nvPr/>
        </p:nvSpPr>
        <p:spPr>
          <a:xfrm>
            <a:off x="385665" y="885629"/>
            <a:ext cx="11420670" cy="568333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7382B-E4B1-2379-0B4C-CA6008BF72C6}"/>
              </a:ext>
            </a:extLst>
          </p:cNvPr>
          <p:cNvSpPr txBox="1"/>
          <p:nvPr/>
        </p:nvSpPr>
        <p:spPr>
          <a:xfrm>
            <a:off x="588580" y="1238550"/>
            <a:ext cx="104472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🔍 What this does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For </a:t>
            </a:r>
            <a:r>
              <a:rPr lang="en-IN" b="1" dirty="0">
                <a:solidFill>
                  <a:schemeClr val="bg1"/>
                </a:solidFill>
              </a:rPr>
              <a:t>non-critical categorical fields</a:t>
            </a:r>
            <a:r>
              <a:rPr lang="en-IN" dirty="0">
                <a:solidFill>
                  <a:schemeClr val="bg1"/>
                </a:solidFill>
              </a:rPr>
              <a:t>, missing values are replaced with a placeholder like:</a:t>
            </a:r>
          </a:p>
          <a:p>
            <a:r>
              <a:rPr lang="en-IN" b="1" dirty="0">
                <a:solidFill>
                  <a:schemeClr val="bg1"/>
                </a:solidFill>
              </a:rPr>
              <a:t>“Unknown”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Examples: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Customer Gender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Promotion Type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Event Category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Payment Type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🎯 Why this is important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Preserves valuable records instead of discarding them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Keeps categorical columns consistent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Allows models to learn from “unknown” patterns rather than losing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8B12C6-8771-6F97-E44E-703789261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5" y="214799"/>
            <a:ext cx="35052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9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FBBB1-60CD-B05F-70DD-D7BDE389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0457B4-146E-C5D6-8B2E-3F83F894C5BC}"/>
              </a:ext>
            </a:extLst>
          </p:cNvPr>
          <p:cNvSpPr/>
          <p:nvPr/>
        </p:nvSpPr>
        <p:spPr>
          <a:xfrm>
            <a:off x="385665" y="220717"/>
            <a:ext cx="11420670" cy="312157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E0E3B-FE06-22A4-CF74-82A61E944010}"/>
              </a:ext>
            </a:extLst>
          </p:cNvPr>
          <p:cNvSpPr txBox="1"/>
          <p:nvPr/>
        </p:nvSpPr>
        <p:spPr>
          <a:xfrm>
            <a:off x="578070" y="544867"/>
            <a:ext cx="104472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🧠 Modelling advantage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Many ML models can handle a distinct </a:t>
            </a:r>
            <a:r>
              <a:rPr lang="en-IN" b="1" dirty="0">
                <a:solidFill>
                  <a:schemeClr val="bg1"/>
                </a:solidFill>
              </a:rPr>
              <a:t>“Unknown” category</a:t>
            </a:r>
            <a:r>
              <a:rPr lang="en-IN" dirty="0">
                <a:solidFill>
                  <a:schemeClr val="bg1"/>
                </a:solidFill>
              </a:rPr>
              <a:t> better than missing values.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This improves: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Model stability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Feature completeness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Interpretability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AF4B9-4838-51BD-A027-3DFB4EDA57A8}"/>
              </a:ext>
            </a:extLst>
          </p:cNvPr>
          <p:cNvSpPr/>
          <p:nvPr/>
        </p:nvSpPr>
        <p:spPr>
          <a:xfrm>
            <a:off x="385665" y="4186904"/>
            <a:ext cx="11420670" cy="200368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A057A8-FFA0-565F-3B9A-BC65160A2DC7}"/>
              </a:ext>
            </a:extLst>
          </p:cNvPr>
          <p:cNvSpPr txBox="1"/>
          <p:nvPr/>
        </p:nvSpPr>
        <p:spPr>
          <a:xfrm>
            <a:off x="578070" y="4588583"/>
            <a:ext cx="10447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🔍 What this does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step converts </a:t>
            </a:r>
            <a:r>
              <a:rPr lang="en-IN" b="1" dirty="0">
                <a:solidFill>
                  <a:schemeClr val="bg1"/>
                </a:solidFill>
              </a:rPr>
              <a:t>safe, measurable columns</a:t>
            </a:r>
            <a:r>
              <a:rPr lang="en-IN" dirty="0">
                <a:solidFill>
                  <a:schemeClr val="bg1"/>
                </a:solidFill>
              </a:rPr>
              <a:t> into numeric formats so they can be used in analysis and ML models.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08FB19-55B3-CC7D-D157-656402A1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5" y="3515711"/>
            <a:ext cx="45434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8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F911D-5E88-B7EB-EE48-CCF7E628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61E33-934F-D6DC-8EDF-5FE79181F7A9}"/>
              </a:ext>
            </a:extLst>
          </p:cNvPr>
          <p:cNvSpPr/>
          <p:nvPr/>
        </p:nvSpPr>
        <p:spPr>
          <a:xfrm>
            <a:off x="385665" y="256035"/>
            <a:ext cx="11420670" cy="648109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895DA-1167-C6F0-ACF7-089F7A8F5398}"/>
              </a:ext>
            </a:extLst>
          </p:cNvPr>
          <p:cNvSpPr txBox="1"/>
          <p:nvPr/>
        </p:nvSpPr>
        <p:spPr>
          <a:xfrm>
            <a:off x="599091" y="541928"/>
            <a:ext cx="1044728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📌 Examples of safe numeric columns</a:t>
            </a:r>
          </a:p>
          <a:p>
            <a:endParaRPr lang="en-IN" sz="1200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Quantity Sold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Unit Price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Total Sales Amount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Discount Applied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Tax Amount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Satisfaction Score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Forecast Quantity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🚫 What is NOT converted</a:t>
            </a:r>
          </a:p>
          <a:p>
            <a:endParaRPr lang="en-IN" sz="1200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IDs (Product ID, Store ID, Customer ID)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Categorical labels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Descriptive text fields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🎯 Why this is important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Enables mathematical operations and aggregations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Required for correlation analysis and model training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Prevents runtime errors in ML pipelines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6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9587F-EE31-989F-D888-85A8D24E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1B7ED4-38F5-8905-8A82-2D84555B26C1}"/>
              </a:ext>
            </a:extLst>
          </p:cNvPr>
          <p:cNvSpPr/>
          <p:nvPr/>
        </p:nvSpPr>
        <p:spPr>
          <a:xfrm>
            <a:off x="385665" y="220718"/>
            <a:ext cx="11420670" cy="28377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6C7D1-2BEB-970F-0BD2-2D338C84B3EA}"/>
              </a:ext>
            </a:extLst>
          </p:cNvPr>
          <p:cNvSpPr txBox="1"/>
          <p:nvPr/>
        </p:nvSpPr>
        <p:spPr>
          <a:xfrm>
            <a:off x="578070" y="485452"/>
            <a:ext cx="104472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🧠 Why “safe columns only” matters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Blindly converting columns can: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Corrupt IDs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Break joins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Create misleading numerical patterns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step ensures </a:t>
            </a:r>
            <a:r>
              <a:rPr lang="en-IN" b="1" dirty="0">
                <a:solidFill>
                  <a:schemeClr val="bg1"/>
                </a:solidFill>
              </a:rPr>
              <a:t>only logically numeric fields</a:t>
            </a:r>
            <a:r>
              <a:rPr lang="en-IN" dirty="0">
                <a:solidFill>
                  <a:schemeClr val="bg1"/>
                </a:solidFill>
              </a:rPr>
              <a:t> are converted.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92522C-8C61-9014-4D7E-D66F21C8D118}"/>
              </a:ext>
            </a:extLst>
          </p:cNvPr>
          <p:cNvSpPr/>
          <p:nvPr/>
        </p:nvSpPr>
        <p:spPr>
          <a:xfrm>
            <a:off x="385665" y="3237187"/>
            <a:ext cx="11420670" cy="87235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0CA0-3F33-7B32-6997-8EF3928626C8}"/>
              </a:ext>
            </a:extLst>
          </p:cNvPr>
          <p:cNvSpPr txBox="1"/>
          <p:nvPr/>
        </p:nvSpPr>
        <p:spPr>
          <a:xfrm>
            <a:off x="630621" y="3442532"/>
            <a:ext cx="4382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Exploratory Data Analysis (EDA)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4521C-785C-F0B3-4A37-36F5D5023020}"/>
              </a:ext>
            </a:extLst>
          </p:cNvPr>
          <p:cNvSpPr/>
          <p:nvPr/>
        </p:nvSpPr>
        <p:spPr>
          <a:xfrm>
            <a:off x="385665" y="4288222"/>
            <a:ext cx="11420670" cy="23490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8B3E7-C5AD-96B0-79A0-D038A6AD6BB7}"/>
              </a:ext>
            </a:extLst>
          </p:cNvPr>
          <p:cNvSpPr txBox="1"/>
          <p:nvPr/>
        </p:nvSpPr>
        <p:spPr>
          <a:xfrm>
            <a:off x="578070" y="4421576"/>
            <a:ext cx="10447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Provides high-level insights to understand data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before model engineering.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Insights Generated: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Sales and demand patterns over time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Customer purchase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and loyalty trends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Product category and brand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98253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79EF3-15FB-9ADF-0F68-38C35B11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140810-23EA-326A-2A4E-32FCE2554913}"/>
              </a:ext>
            </a:extLst>
          </p:cNvPr>
          <p:cNvSpPr/>
          <p:nvPr/>
        </p:nvSpPr>
        <p:spPr>
          <a:xfrm>
            <a:off x="385665" y="104594"/>
            <a:ext cx="11420670" cy="18187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3EE12-F5DE-7C51-4A87-62F3C5B15A71}"/>
              </a:ext>
            </a:extLst>
          </p:cNvPr>
          <p:cNvSpPr txBox="1"/>
          <p:nvPr/>
        </p:nvSpPr>
        <p:spPr>
          <a:xfrm>
            <a:off x="578070" y="297085"/>
            <a:ext cx="104472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Store and regional sales distribution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Promotion and event effectiveness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Weather and trend influence on demand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section focuses on </a:t>
            </a:r>
            <a:r>
              <a:rPr lang="en-IN" b="1" dirty="0">
                <a:solidFill>
                  <a:schemeClr val="bg1"/>
                </a:solidFill>
              </a:rPr>
              <a:t>interpretability</a:t>
            </a:r>
            <a:r>
              <a:rPr lang="en-IN" dirty="0">
                <a:solidFill>
                  <a:schemeClr val="bg1"/>
                </a:solidFill>
              </a:rPr>
              <a:t>, not deep statistical </a:t>
            </a:r>
            <a:r>
              <a:rPr lang="en-IN" dirty="0" err="1">
                <a:solidFill>
                  <a:schemeClr val="bg1"/>
                </a:solidFill>
              </a:rPr>
              <a:t>modeling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A7BF0E-BFE2-0D62-1E01-33EFE4594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65" y="2871934"/>
            <a:ext cx="3505200" cy="523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AFC967-3D08-D413-6027-68335D94367D}"/>
              </a:ext>
            </a:extLst>
          </p:cNvPr>
          <p:cNvSpPr/>
          <p:nvPr/>
        </p:nvSpPr>
        <p:spPr>
          <a:xfrm>
            <a:off x="385665" y="2061958"/>
            <a:ext cx="11420670" cy="71809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C5607-C62B-C524-46F6-2911FA6454F7}"/>
              </a:ext>
            </a:extLst>
          </p:cNvPr>
          <p:cNvSpPr txBox="1"/>
          <p:nvPr/>
        </p:nvSpPr>
        <p:spPr>
          <a:xfrm>
            <a:off x="578070" y="2164347"/>
            <a:ext cx="4382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1️⃣ Data Quality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84D6A-D14E-74DB-9523-C8A92AC2AB9A}"/>
              </a:ext>
            </a:extLst>
          </p:cNvPr>
          <p:cNvSpPr/>
          <p:nvPr/>
        </p:nvSpPr>
        <p:spPr>
          <a:xfrm>
            <a:off x="385665" y="3508708"/>
            <a:ext cx="11420670" cy="324469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19F7C-AE91-A5B8-9095-BAD3C7BA703C}"/>
              </a:ext>
            </a:extLst>
          </p:cNvPr>
          <p:cNvSpPr txBox="1"/>
          <p:nvPr/>
        </p:nvSpPr>
        <p:spPr>
          <a:xfrm>
            <a:off x="578070" y="3706418"/>
            <a:ext cx="104472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🔍 What this section does</a:t>
            </a:r>
          </a:p>
          <a:p>
            <a:endParaRPr lang="en-IN" sz="1200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section provides a </a:t>
            </a:r>
            <a:r>
              <a:rPr lang="en-IN" b="1" dirty="0">
                <a:solidFill>
                  <a:schemeClr val="bg1"/>
                </a:solidFill>
              </a:rPr>
              <a:t>high-level health check</a:t>
            </a:r>
            <a:r>
              <a:rPr lang="en-IN" dirty="0">
                <a:solidFill>
                  <a:schemeClr val="bg1"/>
                </a:solidFill>
              </a:rPr>
              <a:t> of the dataset before any </a:t>
            </a:r>
            <a:r>
              <a:rPr lang="en-IN" dirty="0" err="1">
                <a:solidFill>
                  <a:schemeClr val="bg1"/>
                </a:solidFill>
              </a:rPr>
              <a:t>modeling</a:t>
            </a:r>
            <a:r>
              <a:rPr lang="en-IN" dirty="0">
                <a:solidFill>
                  <a:schemeClr val="bg1"/>
                </a:solidFill>
              </a:rPr>
              <a:t> or forecasting is attempted.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It evaluates: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Missing values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Duplicate records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Data type consistency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Overall row and column completeness</a:t>
            </a: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A13023-C2A6-12B0-2760-CE61486710D8}"/>
              </a:ext>
            </a:extLst>
          </p:cNvPr>
          <p:cNvCxnSpPr/>
          <p:nvPr/>
        </p:nvCxnSpPr>
        <p:spPr>
          <a:xfrm>
            <a:off x="3499945" y="3133871"/>
            <a:ext cx="210206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1FD225-4FA1-81C0-03E2-AFC9B9C8336B}"/>
              </a:ext>
            </a:extLst>
          </p:cNvPr>
          <p:cNvSpPr txBox="1"/>
          <p:nvPr/>
        </p:nvSpPr>
        <p:spPr>
          <a:xfrm>
            <a:off x="5801711" y="2862377"/>
            <a:ext cx="570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Expanding this section should display the below summary and the function result</a:t>
            </a:r>
          </a:p>
        </p:txBody>
      </p:sp>
    </p:spTree>
    <p:extLst>
      <p:ext uri="{BB962C8B-B14F-4D97-AF65-F5344CB8AC3E}">
        <p14:creationId xmlns:p14="http://schemas.microsoft.com/office/powerpoint/2010/main" val="343747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A56E3-A349-5B96-893F-75020818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DD623B-11B0-67AB-3509-D515F499BDE9}"/>
              </a:ext>
            </a:extLst>
          </p:cNvPr>
          <p:cNvSpPr/>
          <p:nvPr/>
        </p:nvSpPr>
        <p:spPr>
          <a:xfrm>
            <a:off x="385665" y="288765"/>
            <a:ext cx="11420670" cy="606211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DCFAB-29B7-A33C-584E-ABCABAC6446F}"/>
              </a:ext>
            </a:extLst>
          </p:cNvPr>
          <p:cNvSpPr txBox="1"/>
          <p:nvPr/>
        </p:nvSpPr>
        <p:spPr>
          <a:xfrm>
            <a:off x="578070" y="507124"/>
            <a:ext cx="104472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🎯 Why this matters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Demand forecasting models are </a:t>
            </a:r>
            <a:r>
              <a:rPr lang="en-IN" b="1" dirty="0">
                <a:solidFill>
                  <a:schemeClr val="bg1"/>
                </a:solidFill>
              </a:rPr>
              <a:t>highly sensitive to poor data quality</a:t>
            </a:r>
            <a:r>
              <a:rPr lang="en-IN" dirty="0">
                <a:solidFill>
                  <a:schemeClr val="bg1"/>
                </a:solidFill>
              </a:rPr>
              <a:t>.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Even small inconsistencies (missing prices, invalid quantities, duplicate transactions) can significantly distort predictions.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🧠 Key insights users get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Whether the dataset is </a:t>
            </a:r>
            <a:r>
              <a:rPr lang="en-IN" b="1" dirty="0">
                <a:solidFill>
                  <a:schemeClr val="bg1"/>
                </a:solidFill>
              </a:rPr>
              <a:t>model-ready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Which columns require cleaning or transformation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Confidence in the reliability of downstream analysis</a:t>
            </a:r>
          </a:p>
        </p:txBody>
      </p:sp>
    </p:spTree>
    <p:extLst>
      <p:ext uri="{BB962C8B-B14F-4D97-AF65-F5344CB8AC3E}">
        <p14:creationId xmlns:p14="http://schemas.microsoft.com/office/powerpoint/2010/main" val="839408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476EC-1EF4-5F03-4925-A25EAF17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544AA0-3B7F-CFFB-5481-269352005F5A}"/>
              </a:ext>
            </a:extLst>
          </p:cNvPr>
          <p:cNvSpPr/>
          <p:nvPr/>
        </p:nvSpPr>
        <p:spPr>
          <a:xfrm>
            <a:off x="270052" y="264689"/>
            <a:ext cx="11420670" cy="71809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984DF-CB52-35C4-B720-3092CF28A3FE}"/>
              </a:ext>
            </a:extLst>
          </p:cNvPr>
          <p:cNvSpPr txBox="1"/>
          <p:nvPr/>
        </p:nvSpPr>
        <p:spPr>
          <a:xfrm>
            <a:off x="462457" y="367078"/>
            <a:ext cx="4382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2️⃣ Sales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FD0D62-6C08-72AF-3B48-0853E20EC51E}"/>
              </a:ext>
            </a:extLst>
          </p:cNvPr>
          <p:cNvSpPr/>
          <p:nvPr/>
        </p:nvSpPr>
        <p:spPr>
          <a:xfrm>
            <a:off x="270052" y="1988242"/>
            <a:ext cx="11420670" cy="46858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B8C85-4A30-D2FC-C4EA-38B5FE683C40}"/>
              </a:ext>
            </a:extLst>
          </p:cNvPr>
          <p:cNvSpPr txBox="1"/>
          <p:nvPr/>
        </p:nvSpPr>
        <p:spPr>
          <a:xfrm>
            <a:off x="462457" y="2156114"/>
            <a:ext cx="104472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🔍 What this section does</a:t>
            </a:r>
          </a:p>
          <a:p>
            <a:endParaRPr lang="en-IN" sz="1200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This provides a macro-level snapshot of sales performance, answering the question: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“What does overall sales look like across time?”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It typically highlights: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Total revenue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Total units sold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Average order value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Sales trends over time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2D8A2-4728-62A7-F06D-E6AF64ACBD24}"/>
              </a:ext>
            </a:extLst>
          </p:cNvPr>
          <p:cNvSpPr txBox="1"/>
          <p:nvPr/>
        </p:nvSpPr>
        <p:spPr>
          <a:xfrm>
            <a:off x="5382021" y="1238484"/>
            <a:ext cx="570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Expanding this section should display the below summary and the function result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086732-3292-54DC-CF9C-AB13991A5120}"/>
              </a:ext>
            </a:extLst>
          </p:cNvPr>
          <p:cNvCxnSpPr/>
          <p:nvPr/>
        </p:nvCxnSpPr>
        <p:spPr>
          <a:xfrm>
            <a:off x="3279952" y="1504766"/>
            <a:ext cx="210206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FA836DF-FC03-DCB4-5305-6AE7EF64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2" y="1210475"/>
            <a:ext cx="30099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9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5ABEF-6BBC-2519-6076-B83BE9B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770D18-B877-7E5C-6321-60F6078EBA68}"/>
              </a:ext>
            </a:extLst>
          </p:cNvPr>
          <p:cNvSpPr/>
          <p:nvPr/>
        </p:nvSpPr>
        <p:spPr>
          <a:xfrm>
            <a:off x="385665" y="288766"/>
            <a:ext cx="11420670" cy="617509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C66AD-793F-B5FF-2CEF-444D7D626579}"/>
              </a:ext>
            </a:extLst>
          </p:cNvPr>
          <p:cNvSpPr txBox="1"/>
          <p:nvPr/>
        </p:nvSpPr>
        <p:spPr>
          <a:xfrm>
            <a:off x="578070" y="1043151"/>
            <a:ext cx="104472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🎯 Why this matters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Before diving into granular analysis, it’s important to understand: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Overall business scale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Growth or decline patterns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Presence of seasonality or anomalies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🧠 Key insights users get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Baseline sales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Early signals of trends or volatility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bg1"/>
                </a:solidFill>
              </a:rPr>
              <a:t>Context for all deeper analyses</a:t>
            </a:r>
          </a:p>
        </p:txBody>
      </p:sp>
    </p:spTree>
    <p:extLst>
      <p:ext uri="{BB962C8B-B14F-4D97-AF65-F5344CB8AC3E}">
        <p14:creationId xmlns:p14="http://schemas.microsoft.com/office/powerpoint/2010/main" val="339082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FFD3C-AF20-75ED-0AFE-ED543F7D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5B60B0-B963-F120-9B75-6982AF48692D}"/>
              </a:ext>
            </a:extLst>
          </p:cNvPr>
          <p:cNvSpPr/>
          <p:nvPr/>
        </p:nvSpPr>
        <p:spPr>
          <a:xfrm>
            <a:off x="385665" y="288766"/>
            <a:ext cx="11420670" cy="617509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50ED1-B797-3734-7158-D944F73C85A4}"/>
              </a:ext>
            </a:extLst>
          </p:cNvPr>
          <p:cNvSpPr txBox="1"/>
          <p:nvPr/>
        </p:nvSpPr>
        <p:spPr>
          <a:xfrm>
            <a:off x="578070" y="1043151"/>
            <a:ext cx="104472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 need a list of </a:t>
            </a:r>
            <a:r>
              <a:rPr lang="en-IN" dirty="0" err="1">
                <a:solidFill>
                  <a:schemeClr val="bg1"/>
                </a:solidFill>
              </a:rPr>
              <a:t>Analtyics</a:t>
            </a:r>
            <a:r>
              <a:rPr lang="en-IN" dirty="0">
                <a:solidFill>
                  <a:schemeClr val="bg1"/>
                </a:solidFill>
              </a:rPr>
              <a:t> in the EDA Section as shown example from slide #11 to #14 (Add </a:t>
            </a:r>
            <a:r>
              <a:rPr lang="en-IN" dirty="0" err="1">
                <a:solidFill>
                  <a:schemeClr val="bg1"/>
                </a:solidFill>
              </a:rPr>
              <a:t>wrt</a:t>
            </a:r>
            <a:r>
              <a:rPr lang="en-IN" dirty="0">
                <a:solidFill>
                  <a:schemeClr val="bg1"/>
                </a:solidFill>
              </a:rPr>
              <a:t> to all the dimensions and fact that you have)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Data Quality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Product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Customer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Store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Vendor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Location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Warehouse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Transport </a:t>
            </a:r>
            <a:r>
              <a:rPr lang="en-IN">
                <a:solidFill>
                  <a:schemeClr val="bg1"/>
                </a:solidFill>
              </a:rPr>
              <a:t>Route Analysis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Sales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Inventory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Redistribution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Reallocation Analysis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Logistics Analysis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90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1010</Words>
  <Application>Microsoft Office PowerPoint</Application>
  <PresentationFormat>Widescreen</PresentationFormat>
  <Paragraphs>208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Durga Prasad</dc:creator>
  <cp:lastModifiedBy>Durga Prasad</cp:lastModifiedBy>
  <cp:revision>3</cp:revision>
  <dcterms:created xsi:type="dcterms:W3CDTF">2026-01-16T13:20:53Z</dcterms:created>
  <dcterms:modified xsi:type="dcterms:W3CDTF">2026-01-16T14:04:10Z</dcterms:modified>
</cp:coreProperties>
</file>